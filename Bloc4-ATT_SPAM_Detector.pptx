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8" r:id="rId4"/>
    <p:sldId id="259" r:id="rId5"/>
    <p:sldId id="260" r:id="rId6"/>
    <p:sldId id="262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43"/>
    <p:restoredTop sz="93690"/>
  </p:normalViewPr>
  <p:slideViewPr>
    <p:cSldViewPr snapToGrid="0" snapToObjects="1">
      <p:cViewPr varScale="1">
        <p:scale>
          <a:sx n="105" d="100"/>
          <a:sy n="105" d="100"/>
        </p:scale>
        <p:origin x="1176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86A601E-C15D-F31C-3B27-2842AB323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1271" y="2693987"/>
            <a:ext cx="7772400" cy="1470025"/>
          </a:xfrm>
        </p:spPr>
        <p:txBody>
          <a:bodyPr/>
          <a:lstStyle/>
          <a:p>
            <a:r>
              <a:rPr lang="fr-FR" dirty="0"/>
              <a:t>AT &amp; </a:t>
            </a:r>
            <a:r>
              <a:rPr lang="fr-FR" dirty="0" err="1"/>
              <a:t>T</a:t>
            </a:r>
            <a:r>
              <a:rPr lang="fr-FR" dirty="0"/>
              <a:t> Détecteur de SPAM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39A40EE-785C-88E2-2DEB-5CA9B0C62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Bloc 4</a:t>
            </a:r>
          </a:p>
        </p:txBody>
      </p:sp>
      <p:pic>
        <p:nvPicPr>
          <p:cNvPr id="1026" name="Picture 2" descr="AT&amp;T Logo, symbol, meaning, history, PNG, brand">
            <a:extLst>
              <a:ext uri="{FF2B5EF4-FFF2-40B4-BE49-F238E27FC236}">
                <a16:creationId xmlns:a16="http://schemas.microsoft.com/office/drawing/2014/main" id="{8542199D-DD6A-0144-B8C2-033C5B68C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734" y="950948"/>
            <a:ext cx="3601065" cy="202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19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AT&amp;T – Détecteur de SPAM 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Contexte : </a:t>
            </a:r>
            <a:r>
              <a:rPr dirty="0" err="1"/>
              <a:t>Projet</a:t>
            </a:r>
            <a:r>
              <a:rPr dirty="0"/>
              <a:t> Deep Learning</a:t>
            </a:r>
          </a:p>
          <a:p>
            <a:pPr lvl="1"/>
            <a:r>
              <a:rPr dirty="0"/>
              <a:t>Objectif : </a:t>
            </a:r>
            <a:r>
              <a:rPr dirty="0" err="1"/>
              <a:t>Détection</a:t>
            </a:r>
            <a:r>
              <a:rPr dirty="0"/>
              <a:t> </a:t>
            </a:r>
            <a:r>
              <a:rPr dirty="0" err="1"/>
              <a:t>automatique</a:t>
            </a:r>
            <a:r>
              <a:rPr dirty="0"/>
              <a:t> des SMS SPAM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  <a:p>
            <a:r>
              <a:rPr lang="fr-FR" dirty="0"/>
              <a:t>Problématique :</a:t>
            </a:r>
            <a:br>
              <a:rPr lang="fr-FR" dirty="0"/>
            </a:br>
            <a:r>
              <a:rPr lang="fr-FR" dirty="0"/>
              <a:t>AT&amp;T : Exposition massive aux SMS frauduleux</a:t>
            </a:r>
          </a:p>
          <a:p>
            <a:pPr lvl="1"/>
            <a:r>
              <a:rPr lang="fr-FR" dirty="0"/>
              <a:t>Risque croissant de </a:t>
            </a:r>
            <a:r>
              <a:rPr lang="fr-FR" dirty="0">
                <a:solidFill>
                  <a:srgbClr val="FF0000"/>
                </a:solidFill>
              </a:rPr>
              <a:t>phishing</a:t>
            </a:r>
          </a:p>
          <a:p>
            <a:pPr lvl="1"/>
            <a:r>
              <a:rPr lang="fr-FR" dirty="0"/>
              <a:t>Besoin d'une </a:t>
            </a:r>
            <a:r>
              <a:rPr lang="fr-FR" dirty="0">
                <a:solidFill>
                  <a:srgbClr val="FF0000"/>
                </a:solidFill>
              </a:rPr>
              <a:t>détection automatique fiable</a:t>
            </a:r>
          </a:p>
          <a:p>
            <a:pPr lvl="1"/>
            <a:r>
              <a:rPr lang="fr-FR" dirty="0"/>
              <a:t>Classification binaire : SPAM vs HAM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Préparation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5572 SMS</a:t>
            </a:r>
          </a:p>
          <a:p>
            <a:pPr lvl="1"/>
            <a:r>
              <a:rPr dirty="0"/>
              <a:t>2 classes : HAM / SPAM</a:t>
            </a:r>
            <a:r>
              <a:rPr lang="fr-FR" dirty="0"/>
              <a:t> (classification binaire)</a:t>
            </a:r>
            <a:endParaRPr dirty="0"/>
          </a:p>
          <a:p>
            <a:pPr lvl="1"/>
            <a:r>
              <a:rPr dirty="0" err="1"/>
              <a:t>Nettoyage</a:t>
            </a:r>
            <a:r>
              <a:rPr dirty="0"/>
              <a:t> Unicode + fusion </a:t>
            </a:r>
            <a:r>
              <a:rPr dirty="0" err="1"/>
              <a:t>colonnes</a:t>
            </a:r>
            <a:r>
              <a:rPr dirty="0"/>
              <a:t> </a:t>
            </a:r>
            <a:r>
              <a:rPr dirty="0" err="1"/>
              <a:t>texte</a:t>
            </a:r>
            <a:endParaRPr dirty="0"/>
          </a:p>
          <a:p>
            <a:pPr lvl="1"/>
            <a:r>
              <a:rPr dirty="0" err="1"/>
              <a:t>Encodage</a:t>
            </a:r>
            <a:r>
              <a:rPr dirty="0"/>
              <a:t> </a:t>
            </a:r>
            <a:r>
              <a:rPr dirty="0" err="1"/>
              <a:t>binaire</a:t>
            </a:r>
            <a:r>
              <a:rPr dirty="0"/>
              <a:t> (spam=1, ham=0)</a:t>
            </a:r>
          </a:p>
          <a:p>
            <a:pPr lvl="1"/>
            <a:r>
              <a:rPr dirty="0"/>
              <a:t>Split </a:t>
            </a:r>
            <a:r>
              <a:rPr dirty="0" err="1"/>
              <a:t>stratifié</a:t>
            </a:r>
            <a:r>
              <a:rPr dirty="0"/>
              <a:t> 80% / 20%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Approche Modélisation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Approche basée sur BERT et Transfer Learning</a:t>
            </a:r>
          </a:p>
          <a:p>
            <a:r>
              <a:rPr dirty="0"/>
              <a:t>Transfer Learning</a:t>
            </a:r>
          </a:p>
          <a:p>
            <a:pPr lvl="1"/>
            <a:r>
              <a:rPr dirty="0"/>
              <a:t>Fine-tuning BERT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			</a:t>
            </a:r>
            <a:r>
              <a:rPr lang="fr-FR" sz="2000" dirty="0"/>
              <a:t>(choix du nombre de </a:t>
            </a:r>
            <a:r>
              <a:rPr lang="fr-FR" sz="2000" dirty="0" err="1"/>
              <a:t>token</a:t>
            </a:r>
            <a:r>
              <a:rPr lang="fr-FR" sz="2000" dirty="0"/>
              <a:t> du message BERT limité à 512)</a:t>
            </a:r>
            <a:endParaRPr sz="2000" dirty="0"/>
          </a:p>
          <a:p>
            <a:pPr lvl="1"/>
            <a:r>
              <a:rPr dirty="0" err="1"/>
              <a:t>Comparaison</a:t>
            </a:r>
            <a:r>
              <a:rPr dirty="0"/>
              <a:t> avec </a:t>
            </a:r>
            <a:r>
              <a:rPr dirty="0" err="1"/>
              <a:t>modèles</a:t>
            </a:r>
            <a:r>
              <a:rPr dirty="0"/>
              <a:t> Hugging Face</a:t>
            </a:r>
          </a:p>
          <a:p>
            <a:pPr lvl="1"/>
            <a:r>
              <a:rPr dirty="0"/>
              <a:t>Environnement : </a:t>
            </a:r>
            <a:r>
              <a:rPr dirty="0" err="1"/>
              <a:t>PyTorch</a:t>
            </a:r>
            <a:r>
              <a:rPr dirty="0"/>
              <a:t> + Transformers + GPU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50"/>
                </a:solidFill>
              </a:rPr>
              <a:t>Fine-Tuning BERT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2" y="116601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 err="1">
                <a:solidFill>
                  <a:srgbClr val="00B050"/>
                </a:solidFill>
              </a:rPr>
              <a:t>Modèle</a:t>
            </a:r>
            <a:r>
              <a:rPr dirty="0">
                <a:solidFill>
                  <a:srgbClr val="00B050"/>
                </a:solidFill>
              </a:rPr>
              <a:t> : </a:t>
            </a:r>
            <a:r>
              <a:rPr dirty="0" err="1">
                <a:solidFill>
                  <a:srgbClr val="00B050"/>
                </a:solidFill>
              </a:rPr>
              <a:t>bert</a:t>
            </a:r>
            <a:r>
              <a:rPr dirty="0">
                <a:solidFill>
                  <a:srgbClr val="00B050"/>
                </a:solidFill>
              </a:rPr>
              <a:t>-base-uncased</a:t>
            </a:r>
          </a:p>
          <a:p>
            <a:pPr lvl="1"/>
            <a:r>
              <a:rPr dirty="0">
                <a:solidFill>
                  <a:srgbClr val="00B050"/>
                </a:solidFill>
              </a:rPr>
              <a:t>3 epochs</a:t>
            </a:r>
          </a:p>
          <a:p>
            <a:pPr lvl="1"/>
            <a:r>
              <a:rPr dirty="0">
                <a:solidFill>
                  <a:srgbClr val="00B050"/>
                </a:solidFill>
              </a:rPr>
              <a:t>Learning rate : 2e-5</a:t>
            </a:r>
          </a:p>
          <a:p>
            <a:pPr lvl="1"/>
            <a:r>
              <a:rPr dirty="0">
                <a:solidFill>
                  <a:srgbClr val="00B050"/>
                </a:solidFill>
              </a:rPr>
              <a:t>Max tokens : 64</a:t>
            </a:r>
          </a:p>
          <a:p>
            <a:pPr lvl="1"/>
            <a:r>
              <a:rPr dirty="0" err="1">
                <a:solidFill>
                  <a:srgbClr val="00B050"/>
                </a:solidFill>
              </a:rPr>
              <a:t>Optimisation</a:t>
            </a:r>
            <a:r>
              <a:rPr dirty="0">
                <a:solidFill>
                  <a:srgbClr val="00B050"/>
                </a:solidFill>
              </a:rPr>
              <a:t> via Trainer HF</a:t>
            </a:r>
            <a:endParaRPr lang="fr-FR" dirty="0">
              <a:solidFill>
                <a:srgbClr val="00B050"/>
              </a:solidFill>
            </a:endParaRPr>
          </a:p>
          <a:p>
            <a:pPr lvl="1"/>
            <a:endParaRPr lang="fr-FR" dirty="0">
              <a:solidFill>
                <a:srgbClr val="00B050"/>
              </a:solidFill>
            </a:endParaRPr>
          </a:p>
          <a:p>
            <a:r>
              <a:rPr lang="fr-FR" dirty="0" err="1">
                <a:solidFill>
                  <a:srgbClr val="00B050"/>
                </a:solidFill>
              </a:rPr>
              <a:t>Accuracy</a:t>
            </a:r>
            <a:r>
              <a:rPr lang="fr-FR" dirty="0">
                <a:solidFill>
                  <a:srgbClr val="00B050"/>
                </a:solidFill>
              </a:rPr>
              <a:t> : 99.1%</a:t>
            </a:r>
          </a:p>
          <a:p>
            <a:pPr lvl="1"/>
            <a:r>
              <a:rPr lang="fr-FR" dirty="0">
                <a:solidFill>
                  <a:srgbClr val="00B050"/>
                </a:solidFill>
              </a:rPr>
              <a:t>AUC : 0.996</a:t>
            </a:r>
          </a:p>
          <a:p>
            <a:pPr lvl="1"/>
            <a:r>
              <a:rPr lang="fr-FR" dirty="0">
                <a:solidFill>
                  <a:srgbClr val="00B050"/>
                </a:solidFill>
              </a:rPr>
              <a:t>Faux positifs : 6</a:t>
            </a:r>
          </a:p>
          <a:p>
            <a:pPr lvl="1"/>
            <a:r>
              <a:rPr lang="fr-FR" dirty="0">
                <a:solidFill>
                  <a:srgbClr val="00B050"/>
                </a:solidFill>
              </a:rPr>
              <a:t>Faux négatifs : 2</a:t>
            </a:r>
          </a:p>
          <a:p>
            <a:pPr lvl="1"/>
            <a:r>
              <a:rPr lang="fr-FR" dirty="0">
                <a:solidFill>
                  <a:srgbClr val="00B050"/>
                </a:solidFill>
              </a:rPr>
              <a:t>Distinction quasi parfaite SPAM/HAM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Comparaison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6129" y="1146661"/>
            <a:ext cx="8229600" cy="1493300"/>
          </a:xfrm>
        </p:spPr>
        <p:txBody>
          <a:bodyPr>
            <a:normAutofit/>
          </a:bodyPr>
          <a:lstStyle/>
          <a:p>
            <a:r>
              <a:rPr dirty="0"/>
              <a:t>BERT fine-</a:t>
            </a:r>
            <a:r>
              <a:rPr dirty="0" err="1"/>
              <a:t>tuné</a:t>
            </a:r>
            <a:r>
              <a:rPr dirty="0"/>
              <a:t> : Meilleur </a:t>
            </a:r>
            <a:r>
              <a:rPr dirty="0" err="1"/>
              <a:t>résultat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64E53B7-4DC5-C36C-1D58-D7AEB9982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48" t="1909"/>
          <a:stretch>
            <a:fillRect/>
          </a:stretch>
        </p:blipFill>
        <p:spPr>
          <a:xfrm>
            <a:off x="294967" y="2639961"/>
            <a:ext cx="2145480" cy="175841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F48C997-8E40-6D31-7FA1-A8DE8E6C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3" y="4358149"/>
            <a:ext cx="2440449" cy="2319065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55E43DA-870B-8EF5-3F5E-3079400D9284}"/>
              </a:ext>
            </a:extLst>
          </p:cNvPr>
          <p:cNvCxnSpPr/>
          <p:nvPr/>
        </p:nvCxnSpPr>
        <p:spPr>
          <a:xfrm>
            <a:off x="2802194" y="2035277"/>
            <a:ext cx="0" cy="4409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CB43AF8-0800-1ACB-4AF7-EE14EF74D9D0}"/>
              </a:ext>
            </a:extLst>
          </p:cNvPr>
          <p:cNvCxnSpPr/>
          <p:nvPr/>
        </p:nvCxnSpPr>
        <p:spPr>
          <a:xfrm>
            <a:off x="6140245" y="2035277"/>
            <a:ext cx="0" cy="4409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0CF2A8BD-7A87-E897-AAE3-23DA42B1C0A0}"/>
              </a:ext>
            </a:extLst>
          </p:cNvPr>
          <p:cNvSpPr txBox="1"/>
          <p:nvPr/>
        </p:nvSpPr>
        <p:spPr>
          <a:xfrm>
            <a:off x="519230" y="1926357"/>
            <a:ext cx="181171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BERT1 fine-</a:t>
            </a:r>
            <a:r>
              <a:rPr lang="fr-FR" dirty="0" err="1"/>
              <a:t>tuné</a:t>
            </a:r>
            <a:endParaRPr lang="fr-FR" dirty="0"/>
          </a:p>
          <a:p>
            <a:r>
              <a:rPr lang="fr-FR" sz="1000" dirty="0"/>
              <a:t>google-</a:t>
            </a:r>
            <a:r>
              <a:rPr lang="fr-FR" sz="1000" dirty="0" err="1"/>
              <a:t>bert</a:t>
            </a:r>
            <a:r>
              <a:rPr lang="fr-FR" sz="1000" dirty="0"/>
              <a:t>/</a:t>
            </a:r>
            <a:r>
              <a:rPr lang="fr-FR" sz="1000" dirty="0" err="1"/>
              <a:t>bert</a:t>
            </a:r>
            <a:r>
              <a:rPr lang="fr-FR" sz="1000" dirty="0"/>
              <a:t>-base-</a:t>
            </a:r>
            <a:r>
              <a:rPr lang="fr-FR" sz="1000" dirty="0" err="1"/>
              <a:t>uncased</a:t>
            </a:r>
            <a:endParaRPr lang="fr-FR" sz="1000" dirty="0"/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E4BA762-878C-76FB-81F5-32510C38BCB1}"/>
              </a:ext>
            </a:extLst>
          </p:cNvPr>
          <p:cNvSpPr txBox="1"/>
          <p:nvPr/>
        </p:nvSpPr>
        <p:spPr>
          <a:xfrm>
            <a:off x="3473603" y="1955853"/>
            <a:ext cx="188064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BERT 2 fine-</a:t>
            </a:r>
            <a:r>
              <a:rPr lang="fr-FR" dirty="0" err="1"/>
              <a:t>tuné</a:t>
            </a:r>
            <a:endParaRPr lang="fr-FR" dirty="0"/>
          </a:p>
          <a:p>
            <a:pPr algn="ctr"/>
            <a:r>
              <a:rPr lang="fr-FR" sz="1000" dirty="0" err="1"/>
              <a:t>AventIQ</a:t>
            </a:r>
            <a:r>
              <a:rPr lang="fr-FR" sz="1000" dirty="0"/>
              <a:t>-AI/</a:t>
            </a:r>
            <a:r>
              <a:rPr lang="fr-FR" sz="1000" dirty="0" err="1"/>
              <a:t>bert</a:t>
            </a:r>
            <a:r>
              <a:rPr lang="fr-FR" sz="1000" dirty="0"/>
              <a:t>-spam-</a:t>
            </a:r>
            <a:r>
              <a:rPr lang="fr-FR" sz="1000" dirty="0" err="1"/>
              <a:t>detection</a:t>
            </a:r>
            <a:endParaRPr lang="fr-FR" sz="1000" dirty="0"/>
          </a:p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F3C03CC-4D67-8980-6C2F-7F04F4B7D84C}"/>
              </a:ext>
            </a:extLst>
          </p:cNvPr>
          <p:cNvSpPr txBox="1"/>
          <p:nvPr/>
        </p:nvSpPr>
        <p:spPr>
          <a:xfrm>
            <a:off x="6296746" y="1926357"/>
            <a:ext cx="284725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Spam detector HF</a:t>
            </a:r>
          </a:p>
          <a:p>
            <a:pPr algn="ctr"/>
            <a:r>
              <a:rPr lang="fr-FR" sz="1000" dirty="0"/>
              <a:t>mrm8488/</a:t>
            </a:r>
            <a:r>
              <a:rPr lang="fr-FR" sz="1000" dirty="0" err="1"/>
              <a:t>bert</a:t>
            </a:r>
            <a:r>
              <a:rPr lang="fr-FR" sz="1000" dirty="0"/>
              <a:t>-</a:t>
            </a:r>
            <a:r>
              <a:rPr lang="fr-FR" sz="1000" dirty="0" err="1"/>
              <a:t>tiny</a:t>
            </a:r>
            <a:r>
              <a:rPr lang="fr-FR" sz="1000" dirty="0"/>
              <a:t>-</a:t>
            </a:r>
            <a:r>
              <a:rPr lang="fr-FR" sz="1000" dirty="0" err="1"/>
              <a:t>finetuned</a:t>
            </a:r>
            <a:r>
              <a:rPr lang="fr-FR" sz="1000" dirty="0"/>
              <a:t>-sms-spam-</a:t>
            </a:r>
            <a:r>
              <a:rPr lang="fr-FR" sz="1000" dirty="0" err="1"/>
              <a:t>detection</a:t>
            </a:r>
            <a:endParaRPr lang="fr-FR" sz="1000" dirty="0"/>
          </a:p>
          <a:p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1A4C6A0-F0F2-B0BE-8D1F-1C315E0EF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118" y="4302156"/>
            <a:ext cx="2694735" cy="24310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322B1F0-25AC-142B-8169-A3F3E3AD5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420" y="2566350"/>
            <a:ext cx="2555090" cy="189126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9A345E7-0D27-EC87-3626-7B95D1460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545" y="4302156"/>
            <a:ext cx="2585402" cy="24310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4B8A36F-6F6C-72A6-C489-F1C8C1D6A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4887" y="2652967"/>
            <a:ext cx="2201101" cy="1752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50"/>
                </a:solidFill>
              </a:rPr>
              <a:t>Forces</a:t>
            </a:r>
            <a:r>
              <a:rPr dirty="0"/>
              <a:t> </a:t>
            </a:r>
            <a:r>
              <a:rPr lang="fr-FR" dirty="0"/>
              <a:t>					</a:t>
            </a:r>
            <a:r>
              <a:rPr lang="fr-FR" dirty="0">
                <a:solidFill>
                  <a:srgbClr val="FFC000"/>
                </a:solidFill>
              </a:rPr>
              <a:t>Faiblesses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dirty="0">
                <a:solidFill>
                  <a:srgbClr val="00B050"/>
                </a:solidFill>
              </a:rPr>
              <a:t>Capture du </a:t>
            </a:r>
            <a:r>
              <a:rPr dirty="0" err="1">
                <a:solidFill>
                  <a:srgbClr val="00B050"/>
                </a:solidFill>
              </a:rPr>
              <a:t>contexte</a:t>
            </a:r>
            <a:r>
              <a:rPr dirty="0">
                <a:solidFill>
                  <a:srgbClr val="00B050"/>
                </a:solidFill>
              </a:rPr>
              <a:t> global</a:t>
            </a:r>
          </a:p>
          <a:p>
            <a:pPr lvl="1"/>
            <a:r>
              <a:rPr dirty="0" err="1">
                <a:solidFill>
                  <a:srgbClr val="00B050"/>
                </a:solidFill>
              </a:rPr>
              <a:t>Analyse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syntaxique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avancée</a:t>
            </a:r>
            <a:endParaRPr dirty="0">
              <a:solidFill>
                <a:srgbClr val="00B050"/>
              </a:solidFill>
            </a:endParaRPr>
          </a:p>
          <a:p>
            <a:pPr lvl="1"/>
            <a:r>
              <a:rPr dirty="0" err="1">
                <a:solidFill>
                  <a:srgbClr val="00B050"/>
                </a:solidFill>
              </a:rPr>
              <a:t>Détection</a:t>
            </a:r>
            <a:r>
              <a:rPr dirty="0">
                <a:solidFill>
                  <a:srgbClr val="00B050"/>
                </a:solidFill>
              </a:rPr>
              <a:t> des variations </a:t>
            </a:r>
            <a:r>
              <a:rPr dirty="0" err="1">
                <a:solidFill>
                  <a:srgbClr val="00B050"/>
                </a:solidFill>
              </a:rPr>
              <a:t>orthographiques</a:t>
            </a:r>
            <a:r>
              <a:rPr dirty="0">
                <a:solidFill>
                  <a:srgbClr val="00B050"/>
                </a:solidFill>
              </a:rPr>
              <a:t> SPAM</a:t>
            </a:r>
          </a:p>
          <a:p>
            <a:pPr lvl="1"/>
            <a:r>
              <a:rPr dirty="0">
                <a:solidFill>
                  <a:srgbClr val="00B050"/>
                </a:solidFill>
              </a:rPr>
              <a:t>Performance </a:t>
            </a:r>
            <a:r>
              <a:rPr dirty="0" err="1">
                <a:solidFill>
                  <a:srgbClr val="00B050"/>
                </a:solidFill>
              </a:rPr>
              <a:t>élevée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même</a:t>
            </a:r>
            <a:r>
              <a:rPr dirty="0">
                <a:solidFill>
                  <a:srgbClr val="00B050"/>
                </a:solidFill>
              </a:rPr>
              <a:t> sur SMS courts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BC3777-C346-5983-31A7-5AF86870745C}"/>
              </a:ext>
            </a:extLst>
          </p:cNvPr>
          <p:cNvSpPr txBox="1">
            <a:spLocks/>
          </p:cNvSpPr>
          <p:nvPr/>
        </p:nvSpPr>
        <p:spPr>
          <a:xfrm>
            <a:off x="4748980" y="1600200"/>
            <a:ext cx="393781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FFC000"/>
                </a:solidFill>
              </a:rPr>
              <a:t>Modèle plus lourd qu'un LSTM</a:t>
            </a:r>
          </a:p>
          <a:p>
            <a:pPr lvl="1"/>
            <a:r>
              <a:rPr lang="fr-FR" dirty="0">
                <a:solidFill>
                  <a:srgbClr val="FFC000"/>
                </a:solidFill>
              </a:rPr>
              <a:t>Temps d'inférence plus élevé</a:t>
            </a:r>
          </a:p>
          <a:p>
            <a:pPr lvl="1"/>
            <a:r>
              <a:rPr lang="fr-FR" dirty="0">
                <a:solidFill>
                  <a:srgbClr val="FFC000"/>
                </a:solidFill>
              </a:rPr>
              <a:t>GPU recommandé à grande échelle</a:t>
            </a:r>
          </a:p>
          <a:p>
            <a:pPr lvl="1"/>
            <a:r>
              <a:rPr lang="fr-FR" dirty="0">
                <a:solidFill>
                  <a:srgbClr val="FFC000"/>
                </a:solidFill>
              </a:rPr>
              <a:t>Nécessité de </a:t>
            </a:r>
            <a:r>
              <a:rPr lang="fr-FR" dirty="0" err="1">
                <a:solidFill>
                  <a:srgbClr val="FFC000"/>
                </a:solidFill>
              </a:rPr>
              <a:t>ré-entraînement</a:t>
            </a:r>
            <a:r>
              <a:rPr lang="fr-FR" dirty="0">
                <a:solidFill>
                  <a:srgbClr val="FFC000"/>
                </a:solidFill>
              </a:rPr>
              <a:t> périodique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5994264-8423-EE95-6BAC-2AB3D43EE9DC}"/>
              </a:ext>
            </a:extLst>
          </p:cNvPr>
          <p:cNvCxnSpPr/>
          <p:nvPr/>
        </p:nvCxnSpPr>
        <p:spPr>
          <a:xfrm>
            <a:off x="4572000" y="1814052"/>
            <a:ext cx="0" cy="404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009FDC"/>
                </a:solidFill>
              </a:rPr>
              <a:t>Recommandations</a:t>
            </a:r>
            <a:r>
              <a:rPr dirty="0">
                <a:solidFill>
                  <a:srgbClr val="009FDC"/>
                </a:solidFill>
              </a:rPr>
              <a:t> pour AT&amp;T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rgbClr val="009FDC"/>
                </a:solidFill>
              </a:rPr>
              <a:t>Ajustement</a:t>
            </a:r>
            <a:r>
              <a:rPr dirty="0">
                <a:solidFill>
                  <a:srgbClr val="009FDC"/>
                </a:solidFill>
              </a:rPr>
              <a:t> du </a:t>
            </a:r>
            <a:r>
              <a:rPr dirty="0" err="1">
                <a:solidFill>
                  <a:srgbClr val="009FDC"/>
                </a:solidFill>
              </a:rPr>
              <a:t>seuil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selon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priorité</a:t>
            </a:r>
            <a:r>
              <a:rPr dirty="0">
                <a:solidFill>
                  <a:srgbClr val="009FDC"/>
                </a:solidFill>
              </a:rPr>
              <a:t> métier</a:t>
            </a:r>
          </a:p>
          <a:p>
            <a:pPr lvl="1"/>
            <a:r>
              <a:rPr dirty="0" err="1">
                <a:solidFill>
                  <a:srgbClr val="009FDC"/>
                </a:solidFill>
              </a:rPr>
              <a:t>Collecte</a:t>
            </a:r>
            <a:r>
              <a:rPr dirty="0">
                <a:solidFill>
                  <a:srgbClr val="009FDC"/>
                </a:solidFill>
              </a:rPr>
              <a:t> des SMS mal </a:t>
            </a:r>
            <a:r>
              <a:rPr dirty="0" err="1">
                <a:solidFill>
                  <a:srgbClr val="009FDC"/>
                </a:solidFill>
              </a:rPr>
              <a:t>classés</a:t>
            </a:r>
            <a:r>
              <a:rPr lang="fr-FR" dirty="0">
                <a:solidFill>
                  <a:srgbClr val="009FDC"/>
                </a:solidFill>
              </a:rPr>
              <a:t> et </a:t>
            </a:r>
            <a:r>
              <a:rPr lang="fr-FR" b="1" dirty="0">
                <a:solidFill>
                  <a:srgbClr val="FF0000"/>
                </a:solidFill>
              </a:rPr>
              <a:t>reclassement</a:t>
            </a:r>
            <a:endParaRPr b="1" dirty="0">
              <a:solidFill>
                <a:srgbClr val="FF0000"/>
              </a:solidFill>
            </a:endParaRPr>
          </a:p>
          <a:p>
            <a:pPr lvl="1"/>
            <a:r>
              <a:rPr dirty="0" err="1">
                <a:solidFill>
                  <a:srgbClr val="009FDC"/>
                </a:solidFill>
              </a:rPr>
              <a:t>Ré-entraînement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mensuel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ou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trimestriel</a:t>
            </a:r>
            <a:endParaRPr dirty="0">
              <a:solidFill>
                <a:srgbClr val="009FDC"/>
              </a:solidFill>
            </a:endParaRPr>
          </a:p>
          <a:p>
            <a:pPr lvl="1"/>
            <a:r>
              <a:rPr dirty="0" err="1">
                <a:solidFill>
                  <a:srgbClr val="009FDC"/>
                </a:solidFill>
              </a:rPr>
              <a:t>Déploiement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progressif</a:t>
            </a:r>
            <a:r>
              <a:rPr dirty="0">
                <a:solidFill>
                  <a:srgbClr val="009FDC"/>
                </a:solidFill>
              </a:rPr>
              <a:t> via A/B test</a:t>
            </a:r>
            <a:r>
              <a:rPr lang="fr-FR" dirty="0">
                <a:solidFill>
                  <a:srgbClr val="009FDC"/>
                </a:solidFill>
              </a:rPr>
              <a:t> en ligne</a:t>
            </a:r>
            <a:endParaRPr dirty="0">
              <a:solidFill>
                <a:srgbClr val="009FDC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4730AC-9CCA-07C6-3C9C-0FAC57A4D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44" y="401638"/>
            <a:ext cx="176022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9FDC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21" y="1600200"/>
            <a:ext cx="8889167" cy="4525963"/>
          </a:xfrm>
        </p:spPr>
        <p:txBody>
          <a:bodyPr/>
          <a:lstStyle/>
          <a:p>
            <a:r>
              <a:rPr dirty="0">
                <a:solidFill>
                  <a:srgbClr val="009FDC"/>
                </a:solidFill>
              </a:rPr>
              <a:t>BERT fine-</a:t>
            </a:r>
            <a:r>
              <a:rPr dirty="0" err="1">
                <a:solidFill>
                  <a:srgbClr val="009FDC"/>
                </a:solidFill>
              </a:rPr>
              <a:t>tuné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lang="fr-FR" dirty="0">
                <a:solidFill>
                  <a:srgbClr val="009FDC"/>
                </a:solidFill>
              </a:rPr>
              <a:t>: (Bravo Google)</a:t>
            </a:r>
            <a:br>
              <a:rPr lang="fr-FR" dirty="0">
                <a:solidFill>
                  <a:srgbClr val="009FDC"/>
                </a:solidFill>
              </a:rPr>
            </a:br>
            <a:r>
              <a:rPr lang="fr-FR" dirty="0">
                <a:solidFill>
                  <a:srgbClr val="009FDC"/>
                </a:solidFill>
              </a:rPr>
              <a:t>		</a:t>
            </a:r>
            <a:r>
              <a:rPr dirty="0" err="1">
                <a:solidFill>
                  <a:srgbClr val="009FDC"/>
                </a:solidFill>
              </a:rPr>
              <a:t>meilleur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compromis</a:t>
            </a:r>
            <a:r>
              <a:rPr dirty="0">
                <a:solidFill>
                  <a:srgbClr val="009FDC"/>
                </a:solidFill>
              </a:rPr>
              <a:t> performance/</a:t>
            </a:r>
            <a:r>
              <a:rPr dirty="0" err="1">
                <a:solidFill>
                  <a:srgbClr val="009FDC"/>
                </a:solidFill>
              </a:rPr>
              <a:t>robustesse</a:t>
            </a:r>
            <a:endParaRPr dirty="0">
              <a:solidFill>
                <a:srgbClr val="009FDC"/>
              </a:solidFill>
            </a:endParaRPr>
          </a:p>
          <a:p>
            <a:pPr lvl="1"/>
            <a:r>
              <a:rPr dirty="0">
                <a:solidFill>
                  <a:srgbClr val="009FDC"/>
                </a:solidFill>
              </a:rPr>
              <a:t>AUC quasi </a:t>
            </a:r>
            <a:r>
              <a:rPr dirty="0" err="1">
                <a:solidFill>
                  <a:srgbClr val="009FDC"/>
                </a:solidFill>
              </a:rPr>
              <a:t>parfaite</a:t>
            </a:r>
            <a:endParaRPr dirty="0">
              <a:solidFill>
                <a:srgbClr val="009FDC"/>
              </a:solidFill>
            </a:endParaRPr>
          </a:p>
          <a:p>
            <a:pPr lvl="1"/>
            <a:r>
              <a:rPr dirty="0">
                <a:solidFill>
                  <a:srgbClr val="009FDC"/>
                </a:solidFill>
              </a:rPr>
              <a:t>Solution </a:t>
            </a:r>
            <a:r>
              <a:rPr dirty="0" err="1">
                <a:solidFill>
                  <a:srgbClr val="009FDC"/>
                </a:solidFill>
              </a:rPr>
              <a:t>prête</a:t>
            </a:r>
            <a:r>
              <a:rPr dirty="0">
                <a:solidFill>
                  <a:srgbClr val="009FDC"/>
                </a:solidFill>
              </a:rPr>
              <a:t> pour </a:t>
            </a:r>
            <a:r>
              <a:rPr dirty="0" err="1">
                <a:solidFill>
                  <a:srgbClr val="009FDC"/>
                </a:solidFill>
              </a:rPr>
              <a:t>déploiement</a:t>
            </a:r>
            <a:r>
              <a:rPr dirty="0">
                <a:solidFill>
                  <a:srgbClr val="009FDC"/>
                </a:solidFill>
              </a:rPr>
              <a:t> </a:t>
            </a:r>
            <a:r>
              <a:rPr dirty="0" err="1">
                <a:solidFill>
                  <a:srgbClr val="009FDC"/>
                </a:solidFill>
              </a:rPr>
              <a:t>industriel</a:t>
            </a:r>
            <a:endParaRPr dirty="0">
              <a:solidFill>
                <a:srgbClr val="009FDC"/>
              </a:solidFill>
            </a:endParaRPr>
          </a:p>
        </p:txBody>
      </p:sp>
      <p:pic>
        <p:nvPicPr>
          <p:cNvPr id="4" name="Picture 2" descr="roc_curve.png">
            <a:extLst>
              <a:ext uri="{FF2B5EF4-FFF2-40B4-BE49-F238E27FC236}">
                <a16:creationId xmlns:a16="http://schemas.microsoft.com/office/drawing/2014/main" id="{6F74C102-1FAD-E45B-4192-C8CE7DEA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63181"/>
            <a:ext cx="3441290" cy="2580968"/>
          </a:xfrm>
          <a:prstGeom prst="rect">
            <a:avLst/>
          </a:prstGeom>
        </p:spPr>
      </p:pic>
      <p:pic>
        <p:nvPicPr>
          <p:cNvPr id="5" name="Picture 2" descr="confusion_matrix.png">
            <a:extLst>
              <a:ext uri="{FF2B5EF4-FFF2-40B4-BE49-F238E27FC236}">
                <a16:creationId xmlns:a16="http://schemas.microsoft.com/office/drawing/2014/main" id="{F8BDEC9E-A24A-5188-F638-4A292518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35502"/>
            <a:ext cx="3792794" cy="2844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302</Words>
  <Application>Microsoft Macintosh PowerPoint</Application>
  <PresentationFormat>Affichage à l'écran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AT &amp; T Détecteur de SPAM</vt:lpstr>
      <vt:lpstr>AT&amp;T – Détecteur de SPAM SMS</vt:lpstr>
      <vt:lpstr>Dataset &amp; Préparation</vt:lpstr>
      <vt:lpstr>Approche Modélisation</vt:lpstr>
      <vt:lpstr>Fine-Tuning BERT</vt:lpstr>
      <vt:lpstr>Comparaison des Modèles</vt:lpstr>
      <vt:lpstr>Forces      Faiblesses</vt:lpstr>
      <vt:lpstr>Recommandations pour AT&amp;T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 Pradel</cp:lastModifiedBy>
  <cp:revision>4</cp:revision>
  <dcterms:created xsi:type="dcterms:W3CDTF">2013-01-27T09:14:16Z</dcterms:created>
  <dcterms:modified xsi:type="dcterms:W3CDTF">2026-02-12T17:56:42Z</dcterms:modified>
  <cp:category/>
</cp:coreProperties>
</file>